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9" r:id="rId22"/>
    <p:sldId id="278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692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5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04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21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90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14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65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40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48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16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35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945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93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14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536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57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CD7B41-A023-483B-9942-C51349BADA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39DE9E-5216-4657-975E-23D869E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567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C34A-EB48-1B1B-1FA1-C8D30037E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417" y="850604"/>
            <a:ext cx="10027165" cy="4529470"/>
          </a:xfrm>
        </p:spPr>
        <p:txBody>
          <a:bodyPr/>
          <a:lstStyle/>
          <a:p>
            <a:pPr algn="ctr"/>
            <a:r>
              <a:rPr lang="en-US" sz="4400" b="1" dirty="0"/>
              <a:t>Apple Stock Price Analysis &amp; Prediction Using Historical Market Data</a:t>
            </a:r>
            <a:br>
              <a:rPr lang="en-US" sz="4800" dirty="0"/>
            </a:b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15365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7C45-A37F-4FA0-6BDA-E2A185AF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MENTOR &amp; 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3CAD3-5876-5385-43F2-3037DB806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15153"/>
            <a:ext cx="10131425" cy="511108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Mentor Name:</a:t>
            </a:r>
            <a:r>
              <a:rPr lang="en-US" dirty="0"/>
              <a:t> </a:t>
            </a:r>
            <a:r>
              <a:rPr lang="en-IN"/>
              <a:t>Sadiya Ansari</a:t>
            </a:r>
            <a:endParaRPr lang="en-US" i="1" dirty="0"/>
          </a:p>
          <a:p>
            <a:pPr marL="0" indent="0">
              <a:buNone/>
            </a:pPr>
            <a:r>
              <a:rPr lang="en-US" b="1" dirty="0"/>
              <a:t>Team Members: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Sakshi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Tanguturu</a:t>
            </a:r>
            <a:r>
              <a:rPr lang="en-IN" dirty="0"/>
              <a:t> Lokesh Babu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Anmol Bhanushali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Raiyana Reyaz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Akash </a:t>
            </a:r>
            <a:r>
              <a:rPr lang="en-IN" dirty="0" err="1"/>
              <a:t>Mahandargi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Koushik 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Sripathi M</a:t>
            </a:r>
          </a:p>
        </p:txBody>
      </p:sp>
    </p:spTree>
    <p:extLst>
      <p:ext uri="{BB962C8B-B14F-4D97-AF65-F5344CB8AC3E}">
        <p14:creationId xmlns:p14="http://schemas.microsoft.com/office/powerpoint/2010/main" val="335678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DE10-66CB-F2B4-296C-3ED88CD8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84F3-11F5-9730-E52F-D67893AA8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86" y="1871331"/>
            <a:ext cx="11865935" cy="4912242"/>
          </a:xfrm>
        </p:spPr>
        <p:txBody>
          <a:bodyPr/>
          <a:lstStyle/>
          <a:p>
            <a:r>
              <a:rPr lang="en-US" sz="4400" dirty="0"/>
              <a:t>To analyze historical stock price data of Apple Inc.</a:t>
            </a:r>
          </a:p>
          <a:p>
            <a:r>
              <a:rPr lang="en-US" sz="4400" dirty="0"/>
              <a:t>To understand price trends, volatility, and patterns.</a:t>
            </a:r>
          </a:p>
          <a:p>
            <a:r>
              <a:rPr lang="en-US" sz="4400" dirty="0"/>
              <a:t>To build a predictive model for future stock prices.</a:t>
            </a:r>
          </a:p>
          <a:p>
            <a:r>
              <a:rPr lang="en-US" sz="4400" dirty="0"/>
              <a:t>To derive actionable insights useful for investors and analysts</a:t>
            </a:r>
            <a:r>
              <a:rPr lang="en-US" sz="5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91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2874-85A1-BFCC-2CEC-2CEE556B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392" y="109870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PROBLEM STATEMENT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0B9AC8E-9B19-1A83-C6EE-A4CFF1AE9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1346" y="1684936"/>
            <a:ext cx="1168930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markets are highly volatile and influenced by multiple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Investors require data-driven insights to support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aims to leverage historical data to analyze trends and predict prices</a:t>
            </a:r>
          </a:p>
        </p:txBody>
      </p:sp>
    </p:spTree>
    <p:extLst>
      <p:ext uri="{BB962C8B-B14F-4D97-AF65-F5344CB8AC3E}">
        <p14:creationId xmlns:p14="http://schemas.microsoft.com/office/powerpoint/2010/main" val="174864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DE75-CB34-D71E-E9F5-9F5D7E7D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759" y="244549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/>
              <a:t>DATASET DETAILS</a:t>
            </a:r>
            <a:br>
              <a:rPr lang="en-IN" sz="4800" b="1" dirty="0"/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0765E-310D-3386-56AE-A290A3555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46" y="1212112"/>
            <a:ext cx="11791507" cy="5549409"/>
          </a:xfrm>
        </p:spPr>
        <p:txBody>
          <a:bodyPr>
            <a:normAutofit/>
          </a:bodyPr>
          <a:lstStyle/>
          <a:p>
            <a:r>
              <a:rPr lang="en-US" sz="4800" dirty="0"/>
              <a:t>Dataset Name: </a:t>
            </a:r>
            <a:r>
              <a:rPr lang="en-US" sz="4800" b="1" dirty="0"/>
              <a:t>Apple Inc. (AAPL) Historical Stock Data</a:t>
            </a:r>
            <a:endParaRPr lang="en-US" sz="4800" dirty="0"/>
          </a:p>
          <a:p>
            <a:r>
              <a:rPr lang="en-US" sz="4800" dirty="0"/>
              <a:t>Data Source: Public financial market data</a:t>
            </a:r>
          </a:p>
        </p:txBody>
      </p:sp>
    </p:spTree>
    <p:extLst>
      <p:ext uri="{BB962C8B-B14F-4D97-AF65-F5344CB8AC3E}">
        <p14:creationId xmlns:p14="http://schemas.microsoft.com/office/powerpoint/2010/main" val="123917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2DDC-A4CB-C10D-BB3A-A0796827B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861" y="237460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DATASET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83FB0-DF6A-98E8-C99B-7D05F428E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35395"/>
            <a:ext cx="12192000" cy="5422605"/>
          </a:xfrm>
        </p:spPr>
        <p:txBody>
          <a:bodyPr>
            <a:normAutofit/>
          </a:bodyPr>
          <a:lstStyle/>
          <a:p>
            <a:r>
              <a:rPr lang="en-US" sz="4000" dirty="0"/>
              <a:t>Date</a:t>
            </a:r>
          </a:p>
          <a:p>
            <a:r>
              <a:rPr lang="en-US" sz="4000" dirty="0"/>
              <a:t>Open Price</a:t>
            </a:r>
          </a:p>
          <a:p>
            <a:r>
              <a:rPr lang="en-US" sz="4000" dirty="0"/>
              <a:t>High Price</a:t>
            </a:r>
          </a:p>
          <a:p>
            <a:r>
              <a:rPr lang="en-US" sz="4000" dirty="0"/>
              <a:t>Low Price</a:t>
            </a:r>
          </a:p>
          <a:p>
            <a:r>
              <a:rPr lang="en-US" sz="4000" dirty="0"/>
              <a:t>Close Price</a:t>
            </a:r>
          </a:p>
          <a:p>
            <a:r>
              <a:rPr lang="en-US" sz="4000" dirty="0"/>
              <a:t>Adjusted Close Price</a:t>
            </a:r>
          </a:p>
          <a:p>
            <a:r>
              <a:rPr lang="en-US" sz="4000" dirty="0"/>
              <a:t>Trading Volume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05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6667-56B3-3794-3ED0-00AB90C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12" y="141767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70B0-6E0E-D318-A986-7A95663D8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0699"/>
            <a:ext cx="12099851" cy="4997302"/>
          </a:xfrm>
        </p:spPr>
        <p:txBody>
          <a:bodyPr/>
          <a:lstStyle/>
          <a:p>
            <a:r>
              <a:rPr lang="en-US" sz="4800" dirty="0"/>
              <a:t>Converted date column to time-series format</a:t>
            </a:r>
          </a:p>
          <a:p>
            <a:r>
              <a:rPr lang="en-US" sz="4800" dirty="0"/>
              <a:t>Handled missing values</a:t>
            </a:r>
          </a:p>
          <a:p>
            <a:r>
              <a:rPr lang="en-US" sz="4800" dirty="0"/>
              <a:t>Ensured numerical consistency</a:t>
            </a:r>
          </a:p>
          <a:p>
            <a:r>
              <a:rPr lang="en-US" sz="4800" dirty="0"/>
              <a:t>Removed duplicates</a:t>
            </a:r>
          </a:p>
          <a:p>
            <a:r>
              <a:rPr lang="en-US" sz="4800" dirty="0"/>
              <a:t>Prepared data for analysis and modeling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01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C70B-4346-C7B6-2347-23AB6851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EXPLORATORY DATA ANALYSIS (EDA) OVERVIEW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745D5-233E-CF52-C560-685B8D595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26781"/>
            <a:ext cx="12192000" cy="5231219"/>
          </a:xfrm>
        </p:spPr>
        <p:txBody>
          <a:bodyPr>
            <a:normAutofit/>
          </a:bodyPr>
          <a:lstStyle/>
          <a:p>
            <a:r>
              <a:rPr lang="en-US" sz="5400" dirty="0"/>
              <a:t>EDA was performed to:</a:t>
            </a:r>
          </a:p>
          <a:p>
            <a:r>
              <a:rPr lang="en-US" sz="5400" dirty="0"/>
              <a:t>Understand price distribution</a:t>
            </a:r>
          </a:p>
          <a:p>
            <a:r>
              <a:rPr lang="en-US" sz="5400" dirty="0"/>
              <a:t>Identify trends and seasonality</a:t>
            </a:r>
          </a:p>
          <a:p>
            <a:r>
              <a:rPr lang="en-US" sz="5400" dirty="0"/>
              <a:t>Detect volatility patterns</a:t>
            </a:r>
          </a:p>
          <a:p>
            <a:r>
              <a:rPr lang="en-US" sz="5400" dirty="0"/>
              <a:t>Analyze trading volume behavior</a:t>
            </a:r>
          </a:p>
        </p:txBody>
      </p:sp>
    </p:spTree>
    <p:extLst>
      <p:ext uri="{BB962C8B-B14F-4D97-AF65-F5344CB8AC3E}">
        <p14:creationId xmlns:p14="http://schemas.microsoft.com/office/powerpoint/2010/main" val="64431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4B55-4019-7ADA-FA7A-E44D423E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5400" b="1" dirty="0"/>
              <a:t>PRICE TREND ANALYSIS</a:t>
            </a:r>
            <a:br>
              <a:rPr lang="en-IN" sz="5400" b="1" dirty="0"/>
            </a:br>
            <a:endParaRPr lang="en-IN" sz="5400" dirty="0"/>
          </a:p>
        </p:txBody>
      </p:sp>
      <p:pic>
        <p:nvPicPr>
          <p:cNvPr id="5" name="Content Placeholder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41FB883B-B227-258D-6018-C0D712F8E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870" y="1279369"/>
            <a:ext cx="9880742" cy="44094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E3B0A-C987-4010-F1DD-2A951CBA7E09}"/>
              </a:ext>
            </a:extLst>
          </p:cNvPr>
          <p:cNvSpPr txBox="1"/>
          <p:nvPr/>
        </p:nvSpPr>
        <p:spPr>
          <a:xfrm>
            <a:off x="866870" y="5861713"/>
            <a:ext cx="9880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Apple’s stock shows a strong long-term upward trend from 2012–2020, with short-term volatility but significant overall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10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7D8E-3C30-E632-13E6-89E5F977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b="1" dirty="0"/>
              <a:t>VOLUME ANALYSIS</a:t>
            </a:r>
            <a:endParaRPr lang="en-IN" sz="5400" dirty="0"/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EF420C5E-08C9-C8C4-C197-A26763AEA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173" y="2141538"/>
            <a:ext cx="8654678" cy="3649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D841A6-4961-7832-2307-F1A8EE9B26BE}"/>
              </a:ext>
            </a:extLst>
          </p:cNvPr>
          <p:cNvSpPr txBox="1"/>
          <p:nvPr/>
        </p:nvSpPr>
        <p:spPr>
          <a:xfrm>
            <a:off x="1542197" y="5991367"/>
            <a:ext cx="8536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Apple’s trading volume generally declines over time, with occasional sharp spikes indicating periods of heightened market activity.</a:t>
            </a:r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187445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BF3C-BD91-6B26-7F7B-C4DBAB36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5400" b="1" dirty="0"/>
              <a:t>MOVING AVERAGE ANALYSIS</a:t>
            </a:r>
            <a:br>
              <a:rPr lang="en-IN" sz="5400" b="1" dirty="0"/>
            </a:br>
            <a:endParaRPr lang="en-IN" dirty="0"/>
          </a:p>
        </p:txBody>
      </p:sp>
      <p:pic>
        <p:nvPicPr>
          <p:cNvPr id="5" name="Content Placeholder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FA8A4744-66AA-717F-CDCB-CD1DC9B27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4774" y="1604169"/>
            <a:ext cx="9191766" cy="3649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4AC78-A53F-BA7C-F747-22ACC936DBB8}"/>
              </a:ext>
            </a:extLst>
          </p:cNvPr>
          <p:cNvSpPr txBox="1"/>
          <p:nvPr/>
        </p:nvSpPr>
        <p:spPr>
          <a:xfrm>
            <a:off x="1003110" y="5807122"/>
            <a:ext cx="996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20-day and 50-day moving averages closely track Apple’s price, confirming a strong bullish trend with brief pullbacks when the averages converge or cross.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794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E29D-8811-CB2D-0F91-3BC24991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VOLATILITY ANALYSIS</a:t>
            </a:r>
          </a:p>
        </p:txBody>
      </p:sp>
      <p:pic>
        <p:nvPicPr>
          <p:cNvPr id="5" name="Content Placeholder 4" descr="A graph showing a number of days&#10;&#10;AI-generated content may be incorrect.">
            <a:extLst>
              <a:ext uri="{FF2B5EF4-FFF2-40B4-BE49-F238E27FC236}">
                <a16:creationId xmlns:a16="http://schemas.microsoft.com/office/drawing/2014/main" id="{E344D7E6-4571-1BCD-0D56-3BAE68433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766" y="1882231"/>
            <a:ext cx="7930468" cy="3649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6E746F-3A22-E779-38B9-061E0CC43F87}"/>
              </a:ext>
            </a:extLst>
          </p:cNvPr>
          <p:cNvSpPr txBox="1"/>
          <p:nvPr/>
        </p:nvSpPr>
        <p:spPr>
          <a:xfrm>
            <a:off x="1228299" y="5875361"/>
            <a:ext cx="9075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Apple’s return volatility fluctuates over time with periodic spikes, indicating phases of increased market uncertainty amid otherwise stable periods.</a:t>
            </a:r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3883207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50A8-E959-5B06-9ED4-E194345D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248093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6000" dirty="0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65F7-7446-C8D9-D060-D3A4D1D30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86271"/>
            <a:ext cx="12192000" cy="5071730"/>
          </a:xfrm>
        </p:spPr>
        <p:txBody>
          <a:bodyPr>
            <a:normAutofit/>
          </a:bodyPr>
          <a:lstStyle/>
          <a:p>
            <a:r>
              <a:rPr lang="en-US" sz="5400" dirty="0"/>
              <a:t>Key features used for modeling:</a:t>
            </a:r>
          </a:p>
          <a:p>
            <a:r>
              <a:rPr lang="en-US" sz="5400" dirty="0"/>
              <a:t>Historical closing prices</a:t>
            </a:r>
          </a:p>
          <a:p>
            <a:r>
              <a:rPr lang="en-US" sz="5400" dirty="0"/>
              <a:t>Lagged price values</a:t>
            </a:r>
          </a:p>
          <a:p>
            <a:r>
              <a:rPr lang="en-US" sz="5400" dirty="0"/>
              <a:t>Moving averages</a:t>
            </a:r>
          </a:p>
          <a:p>
            <a:r>
              <a:rPr lang="en-US" sz="5400" dirty="0"/>
              <a:t>Trend-based indicators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0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EC39-0A83-8216-C903-F648ADEE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21" y="295701"/>
            <a:ext cx="10131425" cy="1456267"/>
          </a:xfrm>
        </p:spPr>
        <p:txBody>
          <a:bodyPr>
            <a:noAutofit/>
          </a:bodyPr>
          <a:lstStyle/>
          <a:p>
            <a:r>
              <a:rPr lang="en-US" sz="5400" dirty="0"/>
              <a:t>Time Series (Original, Trend, Seasonal, Residual)</a:t>
            </a:r>
            <a:endParaRPr lang="en-IN" sz="5400" dirty="0"/>
          </a:p>
        </p:txBody>
      </p:sp>
      <p:pic>
        <p:nvPicPr>
          <p:cNvPr id="5" name="Content Placeholder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E79ADAF1-28E6-C6E3-B8F2-97BDD65DA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21" y="2141536"/>
            <a:ext cx="5656997" cy="4259263"/>
          </a:xfrm>
          <a:prstGeom prst="rect">
            <a:avLst/>
          </a:prstGeom>
        </p:spPr>
      </p:pic>
      <p:pic>
        <p:nvPicPr>
          <p:cNvPr id="7" name="Picture 6" descr="A graph of a diagram&#10;&#10;AI-generated content may be incorrect.">
            <a:extLst>
              <a:ext uri="{FF2B5EF4-FFF2-40B4-BE49-F238E27FC236}">
                <a16:creationId xmlns:a16="http://schemas.microsoft.com/office/drawing/2014/main" id="{4C173B02-94F4-CAAD-3456-14C936A7E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41537"/>
            <a:ext cx="6096000" cy="425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96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DF39-2C15-55C5-6E64-6258BCE4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Stationarity Test (ADF Test)</a:t>
            </a:r>
          </a:p>
        </p:txBody>
      </p:sp>
      <p:pic>
        <p:nvPicPr>
          <p:cNvPr id="5" name="Content Placeholder 4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30983B45-AC8F-5517-3170-7EE43B6C2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936374"/>
            <a:ext cx="10131425" cy="3609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D6AB07-7123-B9AC-BF04-5744C0EB293E}"/>
              </a:ext>
            </a:extLst>
          </p:cNvPr>
          <p:cNvSpPr txBox="1"/>
          <p:nvPr/>
        </p:nvSpPr>
        <p:spPr>
          <a:xfrm>
            <a:off x="852984" y="5841242"/>
            <a:ext cx="9512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After first differencing, the ADF test strongly confirms stationarity since the test statistic is far below critical values and the p-value is effectively zero.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953778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E792-5F77-E1FB-C68F-F6C895FB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914400" indent="-914400" algn="ctr">
              <a:buFont typeface="+mj-lt"/>
              <a:buAutoNum type="arabicPeriod"/>
            </a:pPr>
            <a:r>
              <a:rPr lang="en-US" sz="5400" dirty="0"/>
              <a:t>Rolling-Block Forecast on ARIMA (2,1,2)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2BFAF-7C32-D2FC-E00D-FA93493D7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967" y="2600134"/>
            <a:ext cx="4316102" cy="3827962"/>
          </a:xfrm>
        </p:spPr>
        <p:txBody>
          <a:bodyPr>
            <a:normAutofit fontScale="92500" lnSpcReduction="20000"/>
          </a:bodyPr>
          <a:lstStyle/>
          <a:p>
            <a:pPr latinLnBrk="1">
              <a:buFont typeface="Wingdings" panose="05000000000000000000" pitchFamily="2" charset="2"/>
              <a:buChar char="ü"/>
            </a:pPr>
            <a:r>
              <a:rPr lang="en-IN" dirty="0"/>
              <a:t>BEST MODEL: (2, 1, 2)</a:t>
            </a:r>
          </a:p>
          <a:p>
            <a:pPr latinLnBrk="1">
              <a:buFont typeface="Wingdings" panose="05000000000000000000" pitchFamily="2" charset="2"/>
              <a:buChar char="ü"/>
            </a:pPr>
            <a:r>
              <a:rPr lang="en-IN" dirty="0"/>
              <a:t>BEST AIC: 6037.829531848647</a:t>
            </a:r>
          </a:p>
          <a:p>
            <a:pPr marL="0" indent="0" latinLnBrk="1">
              <a:buNone/>
            </a:pPr>
            <a:endParaRPr lang="sv-SE" sz="2000" dirty="0"/>
          </a:p>
          <a:p>
            <a:pPr marL="0" indent="0" latinLnBrk="1">
              <a:buNone/>
            </a:pPr>
            <a:r>
              <a:rPr lang="sv-SE" sz="2000" dirty="0"/>
              <a:t>Evaluation:</a:t>
            </a:r>
          </a:p>
          <a:p>
            <a:pPr latinLnBrk="1"/>
            <a:r>
              <a:rPr lang="sv-SE" sz="2000" dirty="0"/>
              <a:t>Rolling-block MAE: 3.9503370445564747</a:t>
            </a:r>
          </a:p>
          <a:p>
            <a:pPr latinLnBrk="1"/>
            <a:r>
              <a:rPr lang="sv-SE" sz="2000" dirty="0"/>
              <a:t>Rolling-block RMSE: 5.18361415512413</a:t>
            </a:r>
          </a:p>
          <a:p>
            <a:pPr latinLnBrk="1"/>
            <a:endParaRPr lang="sv-SE" sz="2000" dirty="0"/>
          </a:p>
          <a:p>
            <a:pPr marL="0" indent="0" latinLnBrk="1">
              <a:buNone/>
            </a:pPr>
            <a:r>
              <a:rPr lang="en-US" sz="2000" dirty="0"/>
              <a:t>Predictions closer to actual trend → better visual overlap with test data.</a:t>
            </a:r>
            <a:endParaRPr lang="sv-SE" sz="20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793E004C-1165-748F-0F28-11F9A5E5B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903" y="2286236"/>
            <a:ext cx="7190097" cy="377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31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646B-1B22-A792-0812-C087DA28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5400" dirty="0"/>
              <a:t> 2. SARIMA  with walk-forward 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F6900-3178-3753-4E43-863E2395A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3831608" cy="4408858"/>
          </a:xfrm>
        </p:spPr>
        <p:txBody>
          <a:bodyPr/>
          <a:lstStyle/>
          <a:p>
            <a:pPr latinLnBrk="1"/>
            <a:r>
              <a:rPr lang="en-US" dirty="0"/>
              <a:t>Best SARIMA order: (0, 1, 1)           </a:t>
            </a:r>
          </a:p>
          <a:p>
            <a:pPr latinLnBrk="1"/>
            <a:r>
              <a:rPr lang="en-US" dirty="0"/>
              <a:t>Best seasonal order: (0, 1, 1, 7)</a:t>
            </a:r>
          </a:p>
          <a:p>
            <a:pPr latinLnBrk="1"/>
            <a:r>
              <a:rPr lang="en-US" dirty="0"/>
              <a:t>Starting Walk-Forward Validation...</a:t>
            </a:r>
          </a:p>
          <a:p>
            <a:pPr latinLnBrk="1"/>
            <a:r>
              <a:rPr lang="en-US" dirty="0"/>
              <a:t>Walk-Forward MAE: 2.51</a:t>
            </a:r>
          </a:p>
          <a:p>
            <a:pPr latinLnBrk="1"/>
            <a:r>
              <a:rPr lang="en-US" dirty="0"/>
              <a:t>Walk-Forward RMSE: 3.47</a:t>
            </a:r>
          </a:p>
          <a:p>
            <a:r>
              <a:rPr lang="en-US" dirty="0"/>
              <a:t>The SARIMA model demonstrated strong forecasting performance by effectively capturing both trend and weekly seasonality in Apple’s stock prices. </a:t>
            </a:r>
            <a:endParaRPr lang="en-IN" dirty="0"/>
          </a:p>
        </p:txBody>
      </p:sp>
      <p:pic>
        <p:nvPicPr>
          <p:cNvPr id="5" name="Picture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01893BAD-62B7-2D51-F166-ECAAB17E8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624" y="1958043"/>
            <a:ext cx="7173570" cy="383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18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D893-8858-417A-B77B-2F26E523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15" y="77337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3.LSTM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84297-DF8E-1152-E77C-0DF7E63EF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2" y="2080652"/>
            <a:ext cx="391349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LSTM model with 50 units, 20 epochs and 32 batch size was selected.</a:t>
            </a:r>
          </a:p>
          <a:p>
            <a:pPr marL="0" indent="0">
              <a:buNone/>
            </a:pPr>
            <a:r>
              <a:rPr lang="en-US" dirty="0"/>
              <a:t>Evaluation:   </a:t>
            </a:r>
          </a:p>
          <a:p>
            <a:pPr latinLnBrk="1"/>
            <a:r>
              <a:rPr lang="en-IN" dirty="0"/>
              <a:t>Final LSTM MAE: 5.962632341298</a:t>
            </a:r>
          </a:p>
          <a:p>
            <a:pPr latinLnBrk="1"/>
            <a:r>
              <a:rPr lang="en-IN" dirty="0"/>
              <a:t>Final LSTM RMSE: 7.8893533903465</a:t>
            </a:r>
          </a:p>
          <a:p>
            <a:pPr marL="0" indent="0">
              <a:buNone/>
            </a:pPr>
            <a:r>
              <a:rPr lang="en-US" dirty="0"/>
              <a:t>The LSTM model accurately captures the overall trend of Apple stock prices, with slight smoothing and minor lag on sharp fluctuations.</a:t>
            </a:r>
            <a:endParaRPr lang="en-IN" dirty="0"/>
          </a:p>
        </p:txBody>
      </p:sp>
      <p:pic>
        <p:nvPicPr>
          <p:cNvPr id="5" name="Picture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4B82282B-B50B-EA00-5506-8D2F83A3D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297" y="1658286"/>
            <a:ext cx="7660942" cy="461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19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BAC0-4714-9F4E-0C21-18996618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56" y="422448"/>
            <a:ext cx="9085996" cy="1719619"/>
          </a:xfrm>
        </p:spPr>
        <p:txBody>
          <a:bodyPr>
            <a:noAutofit/>
          </a:bodyPr>
          <a:lstStyle/>
          <a:p>
            <a:r>
              <a:rPr lang="en-US" sz="4400" b="1" dirty="0">
                <a:cs typeface="Arial" panose="020B0604020202020204" pitchFamily="34" charset="0"/>
              </a:rPr>
              <a:t>Apple Stock Price Forecasting: Model Comparison and Selection</a:t>
            </a:r>
            <a:br>
              <a:rPr lang="en-US" sz="4400" dirty="0"/>
            </a:b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B901-5662-0B8E-E49A-CFBF909BA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0403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project, ARIMA, SARIMA, and LSTM models were developed and evaluated for forecasting Apple’s stock prices.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 ARIMA provided a baseline statistical approach but showed limitations in capturing complex trends.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SARIMA performed the best among traditional time series models due to its ability to model seasonality and achieved the lowest error values.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LSTM model, although slightly less accurate than SARIMA in terms of RMSE, offered greater flexibility in modeling non-linear patterns and smoother future forecasts.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SARIMA is selected as the final model due to its better performance and lower forecasting error compared to ARIMA and LSTM.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625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1C4F-D325-EC97-9CED-5B4C7AD7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431" y="609601"/>
            <a:ext cx="8984570" cy="558799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Screenshot of the App Page</a:t>
            </a:r>
            <a:br>
              <a:rPr lang="en-US" sz="5400" dirty="0"/>
            </a:br>
            <a:endParaRPr lang="en-IN" sz="54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EF51875-F7C7-2298-CC2D-49273BB54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0" y="1433015"/>
            <a:ext cx="5839678" cy="5022377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6EEE0F-D082-D3A6-B2B4-36A12D4AD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8" y="1433015"/>
            <a:ext cx="5500915" cy="506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4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6ACC-0654-F612-1F87-7D21CEDB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17714"/>
            <a:ext cx="10131425" cy="14562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Screenshot of the App Page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E6F2CC-93C9-36A2-894E-1A6B361ED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49" y="1673981"/>
            <a:ext cx="6029122" cy="4581676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81CF12-46CB-F35F-DD60-5DC02CC4C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923" y="1637732"/>
            <a:ext cx="4998106" cy="46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9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89C5-2BB3-9000-939D-069BC17B7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58800"/>
            <a:ext cx="10131425" cy="1456267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Challenges Faced During the Project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092E61-76E5-CF50-BB00-A6998D21F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858" y="2119204"/>
            <a:ext cx="11184341" cy="4652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non-stationary stock price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before applying time-series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ARIMA initially produced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flat forecasts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requiring rolling-block forecasting for better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Identifying correct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seasonal parameters in SARIMA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grid search and walk-forward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LSTM struggled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sharp peaks and sudden drops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causing prediction lag.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Hyperparameter tuning and model comparison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increased complexity and computation time.</a:t>
            </a:r>
          </a:p>
          <a:p>
            <a:r>
              <a:rPr lang="en-US" sz="2400" dirty="0"/>
              <a:t>We faced environment mismatch and file-permission issues while integrating the SARIMA model into </a:t>
            </a:r>
            <a:r>
              <a:rPr lang="en-US" sz="2400" dirty="0" err="1"/>
              <a:t>Streamlit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br>
              <a:rPr 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2229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212265-7506-8856-201C-3FD2017ABA8C}"/>
              </a:ext>
            </a:extLst>
          </p:cNvPr>
          <p:cNvSpPr txBox="1"/>
          <p:nvPr/>
        </p:nvSpPr>
        <p:spPr>
          <a:xfrm>
            <a:off x="2474685" y="2394857"/>
            <a:ext cx="110671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1" dirty="0">
                <a:latin typeface="Algerian" panose="04020705040A02060702" pitchFamily="82" charset="0"/>
              </a:rPr>
              <a:t>THANK YOU</a:t>
            </a:r>
            <a:endParaRPr lang="en-IN" sz="9600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64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137</TotalTime>
  <Words>732</Words>
  <Application>Microsoft Office PowerPoint</Application>
  <PresentationFormat>Widescreen</PresentationFormat>
  <Paragraphs>99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Algerian</vt:lpstr>
      <vt:lpstr>Arial</vt:lpstr>
      <vt:lpstr>Calibri</vt:lpstr>
      <vt:lpstr>Calibri Light</vt:lpstr>
      <vt:lpstr>Wingdings</vt:lpstr>
      <vt:lpstr>Celestial</vt:lpstr>
      <vt:lpstr>Apple Stock Price Analysis &amp; Prediction Using Historical Market Data </vt:lpstr>
      <vt:lpstr>MENTOR &amp; TEAM DETAILS</vt:lpstr>
      <vt:lpstr>OBJECTIVE</vt:lpstr>
      <vt:lpstr>PROBLEM STATEMENT</vt:lpstr>
      <vt:lpstr>DATASET DETAILS </vt:lpstr>
      <vt:lpstr>DATASET FEATURES</vt:lpstr>
      <vt:lpstr>DATA PREPROCESSING</vt:lpstr>
      <vt:lpstr>EXPLORATORY DATA ANALYSIS (EDA) OVERVIEW </vt:lpstr>
      <vt:lpstr>PRICE TREND ANALYSIS </vt:lpstr>
      <vt:lpstr>VOLUME ANALYSIS</vt:lpstr>
      <vt:lpstr>MOVING AVERAGE ANALYSIS </vt:lpstr>
      <vt:lpstr>VOLATILITY ANALYSIS</vt:lpstr>
      <vt:lpstr>FEATURE SELECTION</vt:lpstr>
      <vt:lpstr>Time Series (Original, Trend, Seasonal, Residual)</vt:lpstr>
      <vt:lpstr>Stationarity Test (ADF Test)</vt:lpstr>
      <vt:lpstr>Rolling-Block Forecast on ARIMA (2,1,2)</vt:lpstr>
      <vt:lpstr> 2. SARIMA  with walk-forward validation </vt:lpstr>
      <vt:lpstr>3.LSTM</vt:lpstr>
      <vt:lpstr>Apple Stock Price Forecasting: Model Comparison and Selection </vt:lpstr>
      <vt:lpstr>Screenshot of the App Page </vt:lpstr>
      <vt:lpstr>Screenshot of the App Page </vt:lpstr>
      <vt:lpstr>Challenges Faced During the Project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b</dc:creator>
  <cp:lastModifiedBy>Raiyana Reyaz</cp:lastModifiedBy>
  <cp:revision>7</cp:revision>
  <dcterms:created xsi:type="dcterms:W3CDTF">2025-12-30T06:14:23Z</dcterms:created>
  <dcterms:modified xsi:type="dcterms:W3CDTF">2025-12-31T06:20:31Z</dcterms:modified>
</cp:coreProperties>
</file>